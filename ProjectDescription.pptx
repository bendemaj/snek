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73" r:id="rId5"/>
    <p:sldId id="275" r:id="rId6"/>
    <p:sldId id="276" r:id="rId7"/>
    <p:sldId id="282" r:id="rId8"/>
    <p:sldId id="256" r:id="rId9"/>
    <p:sldId id="263" r:id="rId10"/>
    <p:sldId id="265" r:id="rId11"/>
    <p:sldId id="266" r:id="rId12"/>
    <p:sldId id="268" r:id="rId13"/>
    <p:sldId id="270" r:id="rId14"/>
    <p:sldId id="269" r:id="rId15"/>
    <p:sldId id="272" r:id="rId16"/>
    <p:sldId id="278" r:id="rId17"/>
    <p:sldId id="279" r:id="rId18"/>
    <p:sldId id="28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2F363E-2ED1-8B05-D1EC-E4D47CC95A17}" v="1" dt="2026-05-18T10:50:07.742"/>
    <p1510:client id="{D491DB3B-437B-4647-991F-61069C0B9060}" v="208" dt="2026-05-16T11:01:31.511"/>
    <p1510:client id="{DEFFDA5B-6E06-4313-9015-CA957B62014B}" v="582" dt="2026-05-16T11:03:12.7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655" autoAdjust="0"/>
  </p:normalViewPr>
  <p:slideViewPr>
    <p:cSldViewPr snapToGrid="0">
      <p:cViewPr>
        <p:scale>
          <a:sx n="75" d="100"/>
          <a:sy n="75" d="100"/>
        </p:scale>
        <p:origin x="288" y="14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, Daniel" userId="S::daniel.fabian@tuwien.ac.at::3b3d116d-71d5-48c8-a985-e1e978f74804" providerId="AD" clId="Web-{272F363E-2ED1-8B05-D1EC-E4D47CC95A17}"/>
    <pc:docChg chg="delSld">
      <pc:chgData name="Fabian, Daniel" userId="S::daniel.fabian@tuwien.ac.at::3b3d116d-71d5-48c8-a985-e1e978f74804" providerId="AD" clId="Web-{272F363E-2ED1-8B05-D1EC-E4D47CC95A17}" dt="2026-05-18T10:50:07.742" v="0"/>
      <pc:docMkLst>
        <pc:docMk/>
      </pc:docMkLst>
      <pc:sldChg chg="del">
        <pc:chgData name="Fabian, Daniel" userId="S::daniel.fabian@tuwien.ac.at::3b3d116d-71d5-48c8-a985-e1e978f74804" providerId="AD" clId="Web-{272F363E-2ED1-8B05-D1EC-E4D47CC95A17}" dt="2026-05-18T10:50:07.742" v="0"/>
        <pc:sldMkLst>
          <pc:docMk/>
          <pc:sldMk cId="323237569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085A46-68BF-4DEB-91EA-E8BD12A8F4A4}" type="datetimeFigureOut">
              <a:rPr lang="en-AT" smtClean="0"/>
              <a:t>05/18/2026</a:t>
            </a:fld>
            <a:endParaRPr lang="en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7961F-B1E3-4CD3-BC30-1173E21810C6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274227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ffectLst/>
              </a:rPr>
              <a:t>Wie </a:t>
            </a:r>
            <a:r>
              <a:rPr lang="en-GB" dirty="0" err="1">
                <a:effectLst/>
              </a:rPr>
              <a:t>funktioniert</a:t>
            </a:r>
            <a:r>
              <a:rPr lang="en-GB" dirty="0">
                <a:effectLst/>
              </a:rPr>
              <a:t> Snake, was </a:t>
            </a:r>
            <a:r>
              <a:rPr lang="en-GB" dirty="0" err="1">
                <a:effectLst/>
              </a:rPr>
              <a:t>sind</a:t>
            </a:r>
            <a:r>
              <a:rPr lang="en-GB" dirty="0">
                <a:effectLst/>
              </a:rPr>
              <a:t> die </a:t>
            </a:r>
            <a:r>
              <a:rPr lang="en-GB" dirty="0" err="1">
                <a:effectLst/>
              </a:rPr>
              <a:t>Regeln</a:t>
            </a:r>
            <a:r>
              <a:rPr lang="en-GB" dirty="0">
                <a:effectLst/>
              </a:rPr>
              <a:t>?</a:t>
            </a:r>
          </a:p>
          <a:p>
            <a:r>
              <a:rPr lang="en-GB" dirty="0">
                <a:effectLst/>
              </a:rPr>
              <a:t>-&gt; Interactive: Describe snake functionality (eating apples, gets longer, can move, ...) </a:t>
            </a:r>
          </a:p>
          <a:p>
            <a:r>
              <a:rPr lang="en-GB" dirty="0">
                <a:effectLst/>
              </a:rPr>
              <a:t>How does our snake work? -&gt; Our rules</a:t>
            </a:r>
            <a:endParaRPr lang="en-AT" dirty="0"/>
          </a:p>
          <a:p>
            <a:endParaRPr lang="en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37961F-B1E3-4CD3-BC30-1173E21810C6}" type="slidenum">
              <a:rPr lang="en-AT" smtClean="0"/>
              <a:t>6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77765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ffectLst/>
              </a:rPr>
              <a:t>How do we make a project out of this? (rules -&gt; modules) </a:t>
            </a:r>
          </a:p>
          <a:p>
            <a:pPr lvl="1"/>
            <a:r>
              <a:rPr lang="en-GB" dirty="0">
                <a:effectLst/>
              </a:rPr>
              <a:t>Make modules! (Why we like Monoliths but don't like monolithic code)</a:t>
            </a:r>
          </a:p>
          <a:p>
            <a:pPr lvl="1"/>
            <a:r>
              <a:rPr lang="en-GB" dirty="0">
                <a:effectLst/>
              </a:rPr>
              <a:t>What works independent of each other?</a:t>
            </a:r>
          </a:p>
          <a:p>
            <a:pPr lvl="1"/>
            <a:r>
              <a:rPr lang="en-GB" dirty="0">
                <a:effectLst/>
              </a:rPr>
              <a:t>How do we connect periphery (top module)?</a:t>
            </a:r>
          </a:p>
          <a:p>
            <a:r>
              <a:rPr lang="en-GB" dirty="0">
                <a:effectLst/>
              </a:rPr>
              <a:t>What logical modules could you get out of that?</a:t>
            </a:r>
            <a:endParaRPr lang="en-AT" dirty="0"/>
          </a:p>
          <a:p>
            <a:endParaRPr lang="en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37961F-B1E3-4CD3-BC30-1173E21810C6}" type="slidenum">
              <a:rPr lang="en-AT" smtClean="0"/>
              <a:t>8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009642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T" dirty="0"/>
              <a:t>Task Module</a:t>
            </a:r>
          </a:p>
          <a:p>
            <a:r>
              <a:rPr lang="en-AT" dirty="0" err="1"/>
              <a:t>Gamelogic</a:t>
            </a:r>
            <a:r>
              <a:rPr lang="en-AT" dirty="0"/>
              <a:t>, Head, LFSR – </a:t>
            </a:r>
            <a:r>
              <a:rPr lang="en-AT" dirty="0" err="1"/>
              <a:t>selber</a:t>
            </a:r>
            <a:r>
              <a:rPr lang="en-AT" dirty="0"/>
              <a:t> </a:t>
            </a:r>
            <a:r>
              <a:rPr lang="en-AT" dirty="0" err="1"/>
              <a:t>schreiben</a:t>
            </a:r>
            <a:endParaRPr lang="en-AT" dirty="0"/>
          </a:p>
          <a:p>
            <a:r>
              <a:rPr lang="en-AT" dirty="0"/>
              <a:t>VGA – </a:t>
            </a:r>
            <a:r>
              <a:rPr lang="en-AT" dirty="0" err="1"/>
              <a:t>abändern</a:t>
            </a:r>
            <a:endParaRPr lang="en-AT" dirty="0"/>
          </a:p>
          <a:p>
            <a:r>
              <a:rPr lang="en-AT" dirty="0"/>
              <a:t>Apples – Testen</a:t>
            </a:r>
          </a:p>
          <a:p>
            <a:endParaRPr lang="en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37961F-B1E3-4CD3-BC30-1173E21810C6}" type="slidenum">
              <a:rPr lang="en-AT" smtClean="0"/>
              <a:t>12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7372495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B53E8-69A5-9111-70E5-4D226842F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236E3-0FDC-FDB3-E1EE-50EF1FC0F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4D1B5-E47F-C422-7406-8BC7E9987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T" dirty="0"/>
              <a:t>Now let them think</a:t>
            </a:r>
          </a:p>
          <a:p>
            <a:endParaRPr lang="en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B6ADA-83FE-BAA8-36FE-2AEA92600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37961F-B1E3-4CD3-BC30-1173E21810C6}" type="slidenum">
              <a:rPr lang="en-AT" smtClean="0"/>
              <a:t>13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821916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C0763-2A52-CAF4-2624-39B8435AE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3D3F40-9232-23F2-AB7C-0F998F460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194A20-0E4C-B089-E871-401D173C3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T" dirty="0"/>
              <a:t>Now let them think</a:t>
            </a:r>
          </a:p>
          <a:p>
            <a:endParaRPr lang="en-A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44104-438B-C01C-BC0A-8A2C8DCC5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37961F-B1E3-4CD3-BC30-1173E21810C6}" type="slidenum">
              <a:rPr lang="en-AT" smtClean="0"/>
              <a:t>15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90668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sofia.maragkou@tuwien.ac.at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sofia.maragkou@tuwien.ac.at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sofia.maragkou@tuwien.ac.at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sofia.maragkou@tuwien.ac.at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sofia.maragkou@tuwien.ac.at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sofia.maragkou@tuwien.ac.at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sofia.maragkou@tuwien.ac.at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sofia.maragkou@tuwien.ac.at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sofia.maragkou@tuwien.ac.at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sofia.maragkou@tuwien.ac.at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sofia.maragkou@tuwien.ac.at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422026" y="71415"/>
            <a:ext cx="11049077" cy="1143008"/>
          </a:xfrm>
          <a:prstGeom prst="rect">
            <a:avLst/>
          </a:prstGeom>
        </p:spPr>
        <p:txBody>
          <a:bodyPr anchor="ctr"/>
          <a:lstStyle>
            <a:lvl1pPr>
              <a:defRPr sz="36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r>
              <a:rPr lang="de-DE" noProof="0"/>
              <a:t>Titelmasterformat durch Klicken bearbeiten</a:t>
            </a:r>
            <a:endParaRPr lang="en-US" noProof="0"/>
          </a:p>
        </p:txBody>
      </p:sp>
      <p:sp>
        <p:nvSpPr>
          <p:cNvPr id="16" name="Datumsplatzhalter 7"/>
          <p:cNvSpPr>
            <a:spLocks noGrp="1"/>
          </p:cNvSpPr>
          <p:nvPr>
            <p:ph type="dt" sz="half" idx="14"/>
          </p:nvPr>
        </p:nvSpPr>
        <p:spPr>
          <a:xfrm>
            <a:off x="3215901" y="6278399"/>
            <a:ext cx="1356089" cy="532800"/>
          </a:xfrm>
          <a:prstGeom prst="rect">
            <a:avLst/>
          </a:prstGeom>
        </p:spPr>
        <p:txBody>
          <a:bodyPr anchor="b" anchorCtr="0"/>
          <a:lstStyle>
            <a:lvl1pPr algn="r">
              <a:defRPr sz="1108" b="1">
                <a:solidFill>
                  <a:srgbClr val="91A5BB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Fußzeilenplatzhalter 9"/>
          <p:cNvSpPr>
            <a:spLocks noGrp="1"/>
          </p:cNvSpPr>
          <p:nvPr>
            <p:ph type="ftr" sz="quarter" idx="16"/>
          </p:nvPr>
        </p:nvSpPr>
        <p:spPr>
          <a:xfrm>
            <a:off x="4762494" y="6278399"/>
            <a:ext cx="6090689" cy="532800"/>
          </a:xfrm>
          <a:prstGeom prst="rect">
            <a:avLst/>
          </a:prstGeom>
        </p:spPr>
        <p:txBody>
          <a:bodyPr anchor="b" anchorCtr="0"/>
          <a:lstStyle>
            <a:lvl1pPr algn="r">
              <a:defRPr sz="1108" b="1">
                <a:solidFill>
                  <a:srgbClr val="91A5BB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sofia.maragkou@tuwien.ac.at</a:t>
            </a:r>
          </a:p>
        </p:txBody>
      </p:sp>
    </p:spTree>
    <p:extLst>
      <p:ext uri="{BB962C8B-B14F-4D97-AF65-F5344CB8AC3E}">
        <p14:creationId xmlns:p14="http://schemas.microsoft.com/office/powerpoint/2010/main" val="275171345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sofia.maragkou@tuwien.ac.at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sign with grey text&#10;&#10;Description automatically generated">
            <a:extLst>
              <a:ext uri="{FF2B5EF4-FFF2-40B4-BE49-F238E27FC236}">
                <a16:creationId xmlns:a16="http://schemas.microsoft.com/office/drawing/2014/main" id="{4D20E320-158F-C333-B13B-EB22E2B93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01" y="121456"/>
            <a:ext cx="3637936" cy="13749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E21F68-CE42-7DEC-777C-226D088FF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89" y="191541"/>
            <a:ext cx="2637117" cy="1238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9C6438-669C-05CC-6A1E-7ABFA18CA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6" y="5505461"/>
            <a:ext cx="1195295" cy="1232648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F2427838-797E-D2B6-37F6-288A1495E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60563"/>
            <a:ext cx="9144000" cy="2387600"/>
          </a:xfrm>
        </p:spPr>
        <p:txBody>
          <a:bodyPr/>
          <a:lstStyle/>
          <a:p>
            <a:r>
              <a:rPr lang="en-US" err="1"/>
              <a:t>Fachvertiefung</a:t>
            </a:r>
            <a:r>
              <a:rPr lang="en-US"/>
              <a:t> </a:t>
            </a:r>
            <a:br>
              <a:rPr lang="en-US"/>
            </a:br>
            <a:r>
              <a:rPr lang="en-US" err="1"/>
              <a:t>Computersysteme</a:t>
            </a:r>
            <a:br>
              <a:rPr lang="en-US"/>
            </a:br>
            <a:r>
              <a:rPr lang="en-US" sz="2400">
                <a:latin typeface="Aptos"/>
              </a:rPr>
              <a:t>384.139</a:t>
            </a:r>
            <a:endParaRPr lang="en-US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9EC0FAA2-4851-BA55-9F1C-14DC9C7995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33FC3A-6A89-F40B-5C2C-432D6358A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290B5-E753-D095-48B7-CB5CC1CE1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4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0646E-723F-8FB0-3365-A34A2082E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sign with grey text&#10;&#10;Description automatically generated">
            <a:extLst>
              <a:ext uri="{FF2B5EF4-FFF2-40B4-BE49-F238E27FC236}">
                <a16:creationId xmlns:a16="http://schemas.microsoft.com/office/drawing/2014/main" id="{F3FE39FF-6F51-8E24-9672-5D57B234D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01" y="121456"/>
            <a:ext cx="1964258" cy="742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B0F0B7-8F92-C95F-EE24-8B5F8FF20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999" y="191541"/>
            <a:ext cx="1473707" cy="673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EBEECB-53A0-3D29-CCA5-C744A7384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6" y="5981711"/>
            <a:ext cx="732653" cy="742791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DF97F989-492E-2188-B72A-F19414FE6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Project Tasks 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C33533-1334-B262-51CC-34CC59F1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B5F50-D60F-156D-5959-AE11E384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BCDCF62C-4BFB-A860-DBC1-F00C72112B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29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35245737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888658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518788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Task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673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Implementation of 4 predefined modules in VHDL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/>
                        <a:t>Complete implementation</a:t>
                      </a:r>
                    </a:p>
                    <a:p>
                      <a:pPr marL="342900" lvl="0" indent="-342900">
                        <a:buAutoNum type="arabicPeriod"/>
                      </a:pPr>
                      <a:r>
                        <a:rPr lang="en-US"/>
                        <a:t>Explain and argue on the implementation details </a:t>
                      </a: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498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Testbench implementation of one given module.</a:t>
                      </a: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Clr>
                          <a:srgbClr val="000000"/>
                        </a:buClr>
                        <a:buAutoNum type="arabicPeriod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Complete implementation</a:t>
                      </a:r>
                    </a:p>
                    <a:p>
                      <a:pPr marL="342900" lvl="0" indent="-342900">
                        <a:buClr>
                          <a:srgbClr val="000000"/>
                        </a:buClr>
                        <a:buAutoNum type="arabicPeriod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Explain and argue on the implementation details </a:t>
                      </a:r>
                    </a:p>
                    <a:p>
                      <a:pPr marL="342900" lvl="0" indent="-342900">
                        <a:buClr>
                          <a:srgbClr val="000000"/>
                        </a:buClr>
                        <a:buAutoNum type="arabicPeriod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Describe the behavior of given similar modules based on the implemented testbench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387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729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674A0-FA11-6E13-B985-DEF0C8EE5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sign with grey text&#10;&#10;Description automatically generated">
            <a:extLst>
              <a:ext uri="{FF2B5EF4-FFF2-40B4-BE49-F238E27FC236}">
                <a16:creationId xmlns:a16="http://schemas.microsoft.com/office/drawing/2014/main" id="{0F7C13A8-3E05-7821-FDF7-E82B88983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01" y="121456"/>
            <a:ext cx="1964258" cy="742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90A299-9A51-2D99-24BD-04EDA80EF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999" y="191541"/>
            <a:ext cx="1473707" cy="673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2D4473-4090-351B-6006-24EFA01A2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6" y="5981711"/>
            <a:ext cx="732653" cy="742791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BEB5B970-FE13-E342-9CBE-646E16BE1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710"/>
            <a:ext cx="10515600" cy="1325563"/>
          </a:xfrm>
        </p:spPr>
        <p:txBody>
          <a:bodyPr/>
          <a:lstStyle/>
          <a:p>
            <a:pPr algn="ctr"/>
            <a:r>
              <a:rPr lang="en-US"/>
              <a:t>Grading scheme</a:t>
            </a:r>
            <a:br>
              <a:rPr lang="en-US"/>
            </a:br>
            <a:r>
              <a:rPr lang="en-US"/>
              <a:t>(Sum: 20 points)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5C96E9-8B31-68A0-0E55-2BD22BDA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sofia.maragkou@tuwien.ac.at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97F70-FFF6-98FC-918D-91F49137D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12" name="Content Placeholder 10">
            <a:extLst>
              <a:ext uri="{FF2B5EF4-FFF2-40B4-BE49-F238E27FC236}">
                <a16:creationId xmlns:a16="http://schemas.microsoft.com/office/drawing/2014/main" id="{FDC09C81-1259-32DF-0E7E-D0B40353C9FD}"/>
              </a:ext>
            </a:extLst>
          </p:cNvPr>
          <p:cNvGraphicFramePr>
            <a:graphicFrameLocks/>
          </p:cNvGraphicFramePr>
          <p:nvPr/>
        </p:nvGraphicFramePr>
        <p:xfrm>
          <a:off x="841075" y="1365848"/>
          <a:ext cx="10515600" cy="5248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35245737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888658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51878810"/>
                    </a:ext>
                  </a:extLst>
                </a:gridCol>
              </a:tblGrid>
              <a:tr h="341087">
                <a:tc>
                  <a:txBody>
                    <a:bodyPr/>
                    <a:lstStyle/>
                    <a:p>
                      <a:r>
                        <a:rPr lang="en-US" sz="1600"/>
                        <a:t>Task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 Grade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673966"/>
                  </a:ext>
                </a:extLst>
              </a:tr>
              <a:tr h="1534889">
                <a:tc>
                  <a:txBody>
                    <a:bodyPr/>
                    <a:lstStyle/>
                    <a:p>
                      <a:r>
                        <a:rPr lang="en-US" sz="1600"/>
                        <a:t>Implementation of 4 modules in VHDL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sz="1600"/>
                        <a:t>Complete implementation              (1 point)</a:t>
                      </a:r>
                    </a:p>
                    <a:p>
                      <a:pPr marL="342900" lvl="0" indent="-342900">
                        <a:buAutoNum type="arabicPeriod"/>
                      </a:pPr>
                      <a:r>
                        <a:rPr lang="en-US" sz="1600"/>
                        <a:t>Explain and argue on the implementation details                    (2 points)</a:t>
                      </a:r>
                    </a:p>
                    <a:p>
                      <a:pPr lvl="0">
                        <a:buNone/>
                      </a:pP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Total: 12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498287"/>
                  </a:ext>
                </a:extLst>
              </a:tr>
              <a:tr h="2259706">
                <a:tc>
                  <a:txBody>
                    <a:bodyPr/>
                    <a:lstStyle/>
                    <a:p>
                      <a:r>
                        <a:rPr lang="en-US" sz="1600"/>
                        <a:t>Testbench implementation of one given module.</a:t>
                      </a:r>
                    </a:p>
                    <a:p>
                      <a:pPr lvl="0">
                        <a:buNone/>
                      </a:pP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Clr>
                          <a:srgbClr val="000000"/>
                        </a:buClr>
                        <a:buAutoNum type="arabicPeriod"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Complete implementation              (1 point)</a:t>
                      </a:r>
                    </a:p>
                    <a:p>
                      <a:pPr marL="342900" lvl="0" indent="-342900">
                        <a:buClr>
                          <a:srgbClr val="000000"/>
                        </a:buClr>
                        <a:buAutoNum type="arabicPeriod"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Explain and argue on the implementation details                    (1 point)</a:t>
                      </a:r>
                    </a:p>
                    <a:p>
                      <a:pPr marL="342900" lvl="0" indent="-342900">
                        <a:buClr>
                          <a:srgbClr val="000000"/>
                        </a:buClr>
                        <a:buAutoNum type="arabicPeriod"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Describe the behavior of given similar 4 modules based on the implemented testbench</a:t>
                      </a:r>
                    </a:p>
                    <a:p>
                      <a:pPr marL="0" lvl="0" indent="0">
                        <a:buClr>
                          <a:srgbClr val="000000"/>
                        </a:buClr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        (1 point per module)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Total: 6 points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387259"/>
                  </a:ext>
                </a:extLst>
              </a:tr>
              <a:tr h="105737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err="1"/>
                        <a:t>Vivado</a:t>
                      </a:r>
                      <a:r>
                        <a:rPr lang="en-US" sz="1600"/>
                        <a:t> interface and overall understanding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Understanding on: synthesis, implementation, configuration and familiarity with Vivado</a:t>
                      </a:r>
                    </a:p>
                    <a:p>
                      <a:pPr marL="0" lvl="0" indent="0">
                        <a:buNone/>
                      </a:pPr>
                      <a:endParaRPr lang="en-US" sz="1600" b="0" i="0" u="none" strike="noStrike" noProof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/>
                        <a:t>Total: 2 points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794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3450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C3093-1E3E-7FF1-5A54-B9475BBEC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T"/>
          </a:p>
        </p:txBody>
      </p:sp>
      <p:pic>
        <p:nvPicPr>
          <p:cNvPr id="6" name="snek_for_presentation">
            <a:hlinkClick r:id="" action="ppaction://media"/>
            <a:extLst>
              <a:ext uri="{FF2B5EF4-FFF2-40B4-BE49-F238E27FC236}">
                <a16:creationId xmlns:a16="http://schemas.microsoft.com/office/drawing/2014/main" id="{3E2FFA1E-5246-6682-9FDE-4096C091B436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1"/>
            <a:ext cx="12192000" cy="685784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994F3-0F85-C6FD-BEE8-A497042DE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/>
              <a:t>S</a:t>
            </a:r>
            <a:r>
              <a:rPr lang="en-AT" err="1"/>
              <a:t>ource</a:t>
            </a:r>
            <a:r>
              <a:rPr lang="en-AT"/>
              <a:t>: </a:t>
            </a:r>
            <a:r>
              <a:rPr lang="de-AT"/>
              <a:t>https://www.youtube.com/watch?v=0arsPXEaIUY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306093-B3E0-C17F-A219-350291112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93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sign with grey text&#10;&#10;Description automatically generated">
            <a:extLst>
              <a:ext uri="{FF2B5EF4-FFF2-40B4-BE49-F238E27FC236}">
                <a16:creationId xmlns:a16="http://schemas.microsoft.com/office/drawing/2014/main" id="{4D20E320-158F-C333-B13B-EB22E2B93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01" y="121456"/>
            <a:ext cx="3637936" cy="13749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E21F68-CE42-7DEC-777C-226D088FF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89" y="191541"/>
            <a:ext cx="2637117" cy="12380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9C6438-669C-05CC-6A1E-7ABFA18CA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6" y="5505461"/>
            <a:ext cx="1195295" cy="1232648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F2427838-797E-D2B6-37F6-288A1495E1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T" dirty="0"/>
              <a:t>Danger Noodle the game</a:t>
            </a:r>
            <a:endParaRPr lang="en-US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9EC0FAA2-4851-BA55-9F1C-14DC9C7995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T" dirty="0"/>
              <a:t>Daniel Fabian, Ulrich </a:t>
            </a:r>
            <a:r>
              <a:rPr lang="en-AT" dirty="0" err="1"/>
              <a:t>Paleč</a:t>
            </a:r>
            <a:r>
              <a:rPr lang="en-US" dirty="0"/>
              <a:t>e</a:t>
            </a:r>
            <a:r>
              <a:rPr lang="en-AT" dirty="0"/>
              <a:t>k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33FC3A-6A89-F40B-5C2C-432D6358A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290B5-E753-D095-48B7-CB5CC1CE1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BC6CC-5428-63C9-64B4-C633D4C08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sign with grey text&#10;&#10;Description automatically generated">
            <a:extLst>
              <a:ext uri="{FF2B5EF4-FFF2-40B4-BE49-F238E27FC236}">
                <a16:creationId xmlns:a16="http://schemas.microsoft.com/office/drawing/2014/main" id="{4501EB3C-BF20-F1DE-F26D-F0D84F5D2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1" y="121456"/>
            <a:ext cx="1964258" cy="742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F2F40C-DC8D-9FB1-0D78-1FBE6A713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1999" y="191541"/>
            <a:ext cx="1473707" cy="673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DD12C7-2129-0252-5BD5-4864A1929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76" y="5981711"/>
            <a:ext cx="732653" cy="742791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137FD198-266F-0C15-E429-5E5DE3F1B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T" dirty="0"/>
              <a:t>What is </a:t>
            </a:r>
            <a:r>
              <a:rPr lang="en-AT" dirty="0" err="1"/>
              <a:t>sn</a:t>
            </a:r>
            <a:r>
              <a:rPr lang="en-US" dirty="0"/>
              <a:t>ek</a:t>
            </a:r>
            <a:r>
              <a:rPr lang="en-AT" dirty="0"/>
              <a:t>?</a:t>
            </a:r>
            <a:endParaRPr lang="en-US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FD8AD41E-E3B7-F096-6EC4-21F8F12BA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&lt;TODO: MENTI&gt;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5D8159-88DF-EEBC-9CDE-310C184A3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T" dirty="0"/>
              <a:t>Daniel Fabian, Ulrich </a:t>
            </a:r>
            <a:r>
              <a:rPr lang="en-AT"/>
              <a:t>Paleč</a:t>
            </a:r>
            <a:r>
              <a:rPr lang="en-US"/>
              <a:t>e</a:t>
            </a:r>
            <a:r>
              <a:rPr lang="en-AT"/>
              <a:t>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74C5A-4216-8A22-38DC-7E39CA2E8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27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888D6-941F-8712-E4D9-0C0A1282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sign with grey text&#10;&#10;Description automatically generated">
            <a:extLst>
              <a:ext uri="{FF2B5EF4-FFF2-40B4-BE49-F238E27FC236}">
                <a16:creationId xmlns:a16="http://schemas.microsoft.com/office/drawing/2014/main" id="{C24DA68C-BAE2-9A5E-BB89-71972D7D1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01" y="121456"/>
            <a:ext cx="1964258" cy="742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A69B6E-4059-7616-68E8-12CAE86FB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999" y="191541"/>
            <a:ext cx="1473707" cy="673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6DAD1D-741B-ED70-75A8-25B082003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6" y="5981711"/>
            <a:ext cx="732653" cy="742791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C2DA299-D510-2EF4-542B-172E14292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</a:t>
            </a:r>
            <a:r>
              <a:rPr lang="en-AT" dirty="0"/>
              <a:t>is </a:t>
            </a:r>
            <a:r>
              <a:rPr lang="en-AT" dirty="0" err="1"/>
              <a:t>is</a:t>
            </a:r>
            <a:r>
              <a:rPr lang="en-AT" dirty="0"/>
              <a:t> </a:t>
            </a:r>
            <a:r>
              <a:rPr lang="en-US" dirty="0"/>
              <a:t>nope rope</a:t>
            </a:r>
            <a:r>
              <a:rPr lang="en-AT" dirty="0"/>
              <a:t>!</a:t>
            </a:r>
            <a:endParaRPr lang="en-US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65F33604-06AC-5300-3687-CF466A307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Es </a:t>
            </a:r>
            <a:r>
              <a:rPr lang="en-AT" dirty="0" err="1"/>
              <a:t>gibt</a:t>
            </a:r>
            <a:r>
              <a:rPr lang="en-AT" dirty="0"/>
              <a:t> </a:t>
            </a:r>
            <a:r>
              <a:rPr lang="en-AT" dirty="0" err="1"/>
              <a:t>ein</a:t>
            </a:r>
            <a:r>
              <a:rPr lang="en-AT" dirty="0"/>
              <a:t> </a:t>
            </a:r>
            <a:r>
              <a:rPr lang="en-AT" dirty="0" err="1"/>
              <a:t>gerastertes</a:t>
            </a:r>
            <a:r>
              <a:rPr lang="en-AT" dirty="0"/>
              <a:t> </a:t>
            </a:r>
            <a:r>
              <a:rPr lang="en-AT" dirty="0" err="1"/>
              <a:t>Spielfeld</a:t>
            </a:r>
            <a:endParaRPr lang="en-AT" dirty="0"/>
          </a:p>
          <a:p>
            <a:r>
              <a:rPr lang="en-US" dirty="0" err="1"/>
              <a:t>Vordefinierter</a:t>
            </a:r>
            <a:r>
              <a:rPr lang="en-AT" dirty="0"/>
              <a:t> </a:t>
            </a:r>
            <a:r>
              <a:rPr lang="en-AT" dirty="0" err="1"/>
              <a:t>Gametick</a:t>
            </a:r>
            <a:endParaRPr lang="en-AT" dirty="0"/>
          </a:p>
          <a:p>
            <a:pPr lvl="1"/>
            <a:r>
              <a:rPr lang="en-US" dirty="0"/>
              <a:t>Jeden </a:t>
            </a:r>
            <a:r>
              <a:rPr lang="en-US" dirty="0" err="1"/>
              <a:t>Gametick</a:t>
            </a:r>
            <a:r>
              <a:rPr lang="en-US" dirty="0"/>
              <a:t> </a:t>
            </a:r>
            <a:r>
              <a:rPr lang="en-US" dirty="0" err="1"/>
              <a:t>passiert</a:t>
            </a:r>
            <a:r>
              <a:rPr lang="en-US" dirty="0"/>
              <a:t> </a:t>
            </a:r>
            <a:r>
              <a:rPr lang="en-US" dirty="0" err="1"/>
              <a:t>etwas</a:t>
            </a:r>
            <a:endParaRPr lang="en-AT" dirty="0"/>
          </a:p>
          <a:p>
            <a:r>
              <a:rPr lang="en-US" dirty="0"/>
              <a:t>Kopf </a:t>
            </a:r>
            <a:r>
              <a:rPr lang="en-US" dirty="0" err="1"/>
              <a:t>bewegt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in </a:t>
            </a:r>
            <a:r>
              <a:rPr lang="en-US" dirty="0" err="1"/>
              <a:t>Knopfrichtung</a:t>
            </a:r>
            <a:endParaRPr lang="en-AT" dirty="0"/>
          </a:p>
          <a:p>
            <a:pPr lvl="1"/>
            <a:r>
              <a:rPr lang="de-AT" dirty="0"/>
              <a:t>Kollision mit sich selbst tötet</a:t>
            </a:r>
            <a:endParaRPr lang="en-AT" dirty="0"/>
          </a:p>
          <a:p>
            <a:pPr lvl="1"/>
            <a:r>
              <a:rPr lang="en-US" dirty="0" err="1"/>
              <a:t>Kollision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Wänden</a:t>
            </a:r>
            <a:r>
              <a:rPr lang="en-US" dirty="0"/>
              <a:t> </a:t>
            </a:r>
            <a:r>
              <a:rPr lang="en-US" dirty="0" err="1"/>
              <a:t>tötet</a:t>
            </a:r>
            <a:endParaRPr lang="en-AT" dirty="0"/>
          </a:p>
          <a:p>
            <a:pPr lvl="1"/>
            <a:r>
              <a:rPr lang="en-AT" dirty="0" err="1"/>
              <a:t>Kollision</a:t>
            </a:r>
            <a:r>
              <a:rPr lang="en-AT" dirty="0"/>
              <a:t> </a:t>
            </a:r>
            <a:r>
              <a:rPr lang="en-AT" dirty="0" err="1"/>
              <a:t>mit</a:t>
            </a:r>
            <a:r>
              <a:rPr lang="en-AT" dirty="0"/>
              <a:t> Apfel </a:t>
            </a:r>
            <a:r>
              <a:rPr lang="en-AT" dirty="0" err="1"/>
              <a:t>verzehrt</a:t>
            </a:r>
            <a:r>
              <a:rPr lang="en-AT" dirty="0"/>
              <a:t> Apfel</a:t>
            </a:r>
          </a:p>
          <a:p>
            <a:r>
              <a:rPr lang="en-AT" dirty="0"/>
              <a:t>Ap</a:t>
            </a:r>
            <a:r>
              <a:rPr lang="en-US" dirty="0" err="1"/>
              <a:t>fel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platziert</a:t>
            </a:r>
            <a:r>
              <a:rPr lang="en-US" dirty="0"/>
              <a:t>, </a:t>
            </a:r>
            <a:r>
              <a:rPr lang="en-US" dirty="0" err="1"/>
              <a:t>wenn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Apfel </a:t>
            </a:r>
            <a:r>
              <a:rPr lang="en-US" dirty="0" err="1"/>
              <a:t>verzehrt</a:t>
            </a:r>
            <a:r>
              <a:rPr lang="en-US" dirty="0"/>
              <a:t> </a:t>
            </a:r>
            <a:r>
              <a:rPr lang="en-US" dirty="0" err="1"/>
              <a:t>wurde</a:t>
            </a:r>
            <a:endParaRPr lang="en-AT" dirty="0"/>
          </a:p>
          <a:p>
            <a:r>
              <a:rPr lang="en-US" dirty="0"/>
              <a:t>Schwanz </a:t>
            </a:r>
            <a:r>
              <a:rPr lang="en-US" dirty="0" err="1"/>
              <a:t>bewegt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, </a:t>
            </a:r>
            <a:r>
              <a:rPr lang="en-US" dirty="0" err="1"/>
              <a:t>wenn</a:t>
            </a:r>
            <a:r>
              <a:rPr lang="en-US" dirty="0"/>
              <a:t> </a:t>
            </a:r>
            <a:r>
              <a:rPr lang="en-US" dirty="0" err="1"/>
              <a:t>kein</a:t>
            </a:r>
            <a:r>
              <a:rPr lang="en-US" dirty="0"/>
              <a:t> Apfel </a:t>
            </a:r>
            <a:r>
              <a:rPr lang="en-US" dirty="0" err="1"/>
              <a:t>verzehrt</a:t>
            </a:r>
            <a:r>
              <a:rPr lang="en-US" dirty="0"/>
              <a:t> </a:t>
            </a:r>
            <a:r>
              <a:rPr lang="en-US" dirty="0" err="1"/>
              <a:t>wurde</a:t>
            </a:r>
            <a:endParaRPr lang="en-AT" dirty="0"/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9645B4-F3D8-59E2-BBBB-4A83A6740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T" dirty="0"/>
              <a:t>Daniel Fabian, Ulrich </a:t>
            </a:r>
            <a:r>
              <a:rPr lang="en-AT"/>
              <a:t>Paleč</a:t>
            </a:r>
            <a:r>
              <a:rPr lang="en-US"/>
              <a:t>e</a:t>
            </a:r>
            <a:r>
              <a:rPr lang="en-AT"/>
              <a:t>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EA2D0-F791-0846-141B-336EB344F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45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3106D-836A-6C99-6171-775CB3FD6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sign with grey text&#10;&#10;Description automatically generated">
            <a:extLst>
              <a:ext uri="{FF2B5EF4-FFF2-40B4-BE49-F238E27FC236}">
                <a16:creationId xmlns:a16="http://schemas.microsoft.com/office/drawing/2014/main" id="{DEED278A-89B3-1295-212E-FD5D9CE10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1" y="121456"/>
            <a:ext cx="1964258" cy="742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DE57AA-1F4E-2F31-1497-90ECCFFEE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1999" y="191541"/>
            <a:ext cx="1473707" cy="673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D24129-AD0D-FCDA-2A03-E37D9B9864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76" y="5981711"/>
            <a:ext cx="732653" cy="742791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9F11AB76-3EB1-73BC-F2AE-FD47B3D29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Wie </a:t>
            </a:r>
            <a:r>
              <a:rPr lang="en-AT" dirty="0"/>
              <a:t>Projekt</a:t>
            </a:r>
            <a:r>
              <a:rPr lang="en-US" dirty="0"/>
              <a:t>?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D1FC8F8D-DB8D-3F89-063A-02D78A970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Module!</a:t>
            </a:r>
          </a:p>
          <a:p>
            <a:r>
              <a:rPr lang="en-AT" dirty="0"/>
              <a:t>Was </a:t>
            </a:r>
            <a:r>
              <a:rPr lang="en-AT" dirty="0" err="1"/>
              <a:t>funktioniert</a:t>
            </a:r>
            <a:r>
              <a:rPr lang="en-AT" dirty="0"/>
              <a:t> </a:t>
            </a:r>
            <a:r>
              <a:rPr lang="en-AT" dirty="0" err="1"/>
              <a:t>unabhängig</a:t>
            </a:r>
            <a:r>
              <a:rPr lang="en-AT" dirty="0"/>
              <a:t>?</a:t>
            </a:r>
          </a:p>
          <a:p>
            <a:r>
              <a:rPr lang="en-AT" dirty="0"/>
              <a:t>Wie </a:t>
            </a:r>
            <a:r>
              <a:rPr lang="en-AT" dirty="0" err="1"/>
              <a:t>verbinden</a:t>
            </a:r>
            <a:r>
              <a:rPr lang="en-AT" dirty="0"/>
              <a:t> </a:t>
            </a:r>
            <a:r>
              <a:rPr lang="en-AT" dirty="0" err="1"/>
              <a:t>wir</a:t>
            </a:r>
            <a:r>
              <a:rPr lang="en-AT" dirty="0"/>
              <a:t> </a:t>
            </a:r>
            <a:r>
              <a:rPr lang="en-US" dirty="0" err="1"/>
              <a:t>Peripheriegeräte</a:t>
            </a:r>
            <a:r>
              <a:rPr lang="en-AT" dirty="0"/>
              <a:t>? </a:t>
            </a:r>
          </a:p>
          <a:p>
            <a:r>
              <a:rPr lang="en-US" dirty="0" err="1"/>
              <a:t>Welche</a:t>
            </a:r>
            <a:r>
              <a:rPr lang="en-US" dirty="0"/>
              <a:t> Module </a:t>
            </a:r>
            <a:r>
              <a:rPr lang="en-US" dirty="0" err="1"/>
              <a:t>ergeben</a:t>
            </a:r>
            <a:r>
              <a:rPr lang="en-US" dirty="0"/>
              <a:t> </a:t>
            </a:r>
            <a:r>
              <a:rPr lang="en-US" dirty="0" err="1"/>
              <a:t>sich</a:t>
            </a:r>
            <a:r>
              <a:rPr lang="en-US" dirty="0"/>
              <a:t> </a:t>
            </a:r>
            <a:r>
              <a:rPr lang="en-US" dirty="0" err="1"/>
              <a:t>daraus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C0515A-8607-AA86-22C0-E0A08691C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T" dirty="0"/>
              <a:t>Daniel Fabian, Ulrich </a:t>
            </a:r>
            <a:r>
              <a:rPr lang="en-AT" dirty="0" err="1"/>
              <a:t>Paleč</a:t>
            </a:r>
            <a:r>
              <a:rPr lang="en-US" dirty="0"/>
              <a:t>e</a:t>
            </a:r>
            <a:r>
              <a:rPr lang="en-AT" dirty="0"/>
              <a:t>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C50389-D1BC-8124-BD5C-29E487B63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 descr="confused cat - Imgflip">
            <a:extLst>
              <a:ext uri="{FF2B5EF4-FFF2-40B4-BE49-F238E27FC236}">
                <a16:creationId xmlns:a16="http://schemas.microsoft.com/office/drawing/2014/main" id="{F5CD1706-61B0-9C3F-FE36-5A2A952DC2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3910" y="365125"/>
            <a:ext cx="1573379" cy="143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540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9CE08-F47D-2A9C-EA3E-E82EA7E81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sign with grey text&#10;&#10;Description automatically generated">
            <a:extLst>
              <a:ext uri="{FF2B5EF4-FFF2-40B4-BE49-F238E27FC236}">
                <a16:creationId xmlns:a16="http://schemas.microsoft.com/office/drawing/2014/main" id="{0B8B92B8-FEFE-86C7-CC8E-23BEDB1CA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01" y="121456"/>
            <a:ext cx="1964258" cy="742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D288FE-12B4-A722-DD82-41A619240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999" y="191541"/>
            <a:ext cx="1473707" cy="673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8B2530-0781-E79F-9A0E-196DAC0C2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6" y="5981711"/>
            <a:ext cx="732653" cy="742791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41FA5A8-899C-95C2-7134-CF2917B23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T" dirty="0"/>
              <a:t>To Paint we go!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1FA0BD-F6E8-4576-F956-E27D202CC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804741-4C91-FD38-7152-595C9837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T" dirty="0"/>
              <a:t>Daniel Fabian, Ulrich </a:t>
            </a:r>
            <a:r>
              <a:rPr lang="en-AT" dirty="0" err="1"/>
              <a:t>Paleč</a:t>
            </a:r>
            <a:r>
              <a:rPr lang="en-US" dirty="0"/>
              <a:t>e</a:t>
            </a:r>
            <a:r>
              <a:rPr lang="en-AT" dirty="0"/>
              <a:t>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8D9DF-6BBE-E672-1383-7A490D0F9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554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3AB0F-2D37-7DEA-DDF5-93E6AC0B1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sign with grey text&#10;&#10;Description automatically generated">
            <a:extLst>
              <a:ext uri="{FF2B5EF4-FFF2-40B4-BE49-F238E27FC236}">
                <a16:creationId xmlns:a16="http://schemas.microsoft.com/office/drawing/2014/main" id="{731667E7-B687-85DA-A3A1-52817F9B3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01" y="121456"/>
            <a:ext cx="1964258" cy="742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655CE9-1F06-4825-6353-D78B0D5E3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999" y="191541"/>
            <a:ext cx="1473707" cy="673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385830-3699-A3BC-88E8-E1ACC9C4D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6" y="5981711"/>
            <a:ext cx="732653" cy="742791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5E593F5-C342-BCF4-F5FD-9B951A51B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T" dirty="0" err="1"/>
              <a:t>Projektstruktur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8EB97B-4D4C-A3AC-CB87-C6EB78940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AT" dirty="0" err="1"/>
              <a:t>Erster</a:t>
            </a:r>
            <a:r>
              <a:rPr lang="en-AT" dirty="0"/>
              <a:t> </a:t>
            </a:r>
            <a:r>
              <a:rPr lang="en-AT" dirty="0" err="1"/>
              <a:t>Entwurf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0FF4A2-C5D4-D480-9408-FFB0B7CE5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T" dirty="0"/>
              <a:t>Daniel Fabian, Ulrich </a:t>
            </a:r>
            <a:r>
              <a:rPr lang="en-AT" dirty="0" err="1"/>
              <a:t>Paleč</a:t>
            </a:r>
            <a:r>
              <a:rPr lang="en-US" dirty="0"/>
              <a:t>e</a:t>
            </a:r>
            <a:r>
              <a:rPr lang="en-AT" dirty="0"/>
              <a:t>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80911-8480-9A24-7D01-72F0AB81E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B92D9AA-F3E5-C5F4-F128-9B29761D01E6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AT"/>
          </a:p>
        </p:txBody>
      </p:sp>
      <p:pic>
        <p:nvPicPr>
          <p:cNvPr id="16" name="Content Placeholder 6">
            <a:extLst>
              <a:ext uri="{FF2B5EF4-FFF2-40B4-BE49-F238E27FC236}">
                <a16:creationId xmlns:a16="http://schemas.microsoft.com/office/drawing/2014/main" id="{28B897D8-F4C7-622B-A0DA-5C3706E625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553" y="921556"/>
            <a:ext cx="6991694" cy="500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50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486A4-8979-C520-646A-FC92645AF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sign with grey text&#10;&#10;Description automatically generated">
            <a:extLst>
              <a:ext uri="{FF2B5EF4-FFF2-40B4-BE49-F238E27FC236}">
                <a16:creationId xmlns:a16="http://schemas.microsoft.com/office/drawing/2014/main" id="{639DD2C1-C818-7C9A-6A58-4AACA8087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01" y="121456"/>
            <a:ext cx="1964258" cy="742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93EF86-9AB5-B578-7865-42D1F6B7A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999" y="191541"/>
            <a:ext cx="1473707" cy="673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3DAC0D-E2AE-A8E5-5CCD-0983B27EB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6" y="5981711"/>
            <a:ext cx="732653" cy="742791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02D6505-66E7-AE13-BA2A-6F1803238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T" dirty="0" err="1"/>
              <a:t>Projektstruktur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35EBFE-94E7-CBD5-A219-96B298380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84735A-9C52-6F24-183B-9AC5FFBCE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sofia.maragkou@tuwien.ac.at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948A37-0BA5-CD5A-B2C0-6BE509FD3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5E8D949A-9E58-BA01-F924-1D1B301610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27706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211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060D6-DF78-9C55-2EE9-5B36D41AF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sign with grey text&#10;&#10;Description automatically generated">
            <a:extLst>
              <a:ext uri="{FF2B5EF4-FFF2-40B4-BE49-F238E27FC236}">
                <a16:creationId xmlns:a16="http://schemas.microsoft.com/office/drawing/2014/main" id="{66787CF4-FC38-3532-FEBB-A37707FC9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1" y="121456"/>
            <a:ext cx="1964258" cy="742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CE5319-D3C4-43EE-4663-7F7B121B0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1999" y="191541"/>
            <a:ext cx="1473707" cy="673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AF7CA2-EEE1-B0C6-4BC5-EA4FDA3AA9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76" y="5981711"/>
            <a:ext cx="732653" cy="742791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455C4755-CAB3-FFD6-A0A2-1DD64D436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T" dirty="0" err="1"/>
              <a:t>Projektstruktur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1E0E46-815A-EEFB-F576-0ACD6813D00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AT" dirty="0"/>
              <a:t>TODO: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T" dirty="0"/>
              <a:t>Magenta: </a:t>
            </a:r>
            <a:r>
              <a:rPr lang="en-AT" dirty="0" err="1"/>
              <a:t>selbst</a:t>
            </a:r>
            <a:r>
              <a:rPr lang="en-AT" dirty="0"/>
              <a:t> </a:t>
            </a:r>
            <a:r>
              <a:rPr lang="en-AT"/>
              <a:t>schreiben</a:t>
            </a:r>
            <a:endParaRPr lang="en-A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T" dirty="0"/>
              <a:t>Orange: </a:t>
            </a:r>
            <a:r>
              <a:rPr lang="en-AT" dirty="0" err="1"/>
              <a:t>anpassen</a:t>
            </a:r>
            <a:endParaRPr lang="en-A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T" dirty="0"/>
              <a:t>Blau: </a:t>
            </a:r>
            <a:r>
              <a:rPr lang="en-AT"/>
              <a:t>testen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0EF3F2-D539-1517-1AA6-AC806C526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sofia.maragkou@tuwien.ac.at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3B078-5142-F087-7974-9535EFF4A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832506A-25A8-7897-210B-523F1D3BC6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027706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811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D5F96-B1FA-9C2E-010A-5D8DAE2E3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sign with grey text&#10;&#10;Description automatically generated">
            <a:extLst>
              <a:ext uri="{FF2B5EF4-FFF2-40B4-BE49-F238E27FC236}">
                <a16:creationId xmlns:a16="http://schemas.microsoft.com/office/drawing/2014/main" id="{73739DA5-CDCA-DE5D-8939-FAE1823D1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1" y="121456"/>
            <a:ext cx="1964258" cy="742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21E11A-AFDC-7170-1CCD-5570CA7F7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1999" y="191541"/>
            <a:ext cx="1473707" cy="673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CC3BB5-56D7-B1C1-E76B-63B7B6462E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76" y="5981711"/>
            <a:ext cx="732653" cy="742791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03F7F665-DD0F-CF8C-BB81-503461857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FSM (</a:t>
            </a:r>
            <a:r>
              <a:rPr lang="en-US" dirty="0" err="1"/>
              <a:t>Gamelogic</a:t>
            </a:r>
            <a:r>
              <a:rPr lang="en-US" dirty="0"/>
              <a:t>)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288256B5-FFAB-C321-F8BE-CCE679C1E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Welche</a:t>
            </a:r>
            <a:r>
              <a:rPr lang="en-US" dirty="0"/>
              <a:t> </a:t>
            </a:r>
            <a:r>
              <a:rPr lang="en-US" dirty="0" err="1"/>
              <a:t>Zustände</a:t>
            </a:r>
            <a:r>
              <a:rPr lang="en-US" dirty="0"/>
              <a:t> </a:t>
            </a:r>
            <a:r>
              <a:rPr lang="en-US" dirty="0" err="1"/>
              <a:t>gibt</a:t>
            </a:r>
            <a:r>
              <a:rPr lang="en-US" dirty="0"/>
              <a:t> es?</a:t>
            </a:r>
          </a:p>
          <a:p>
            <a:r>
              <a:rPr lang="en-US" dirty="0" err="1"/>
              <a:t>Welche</a:t>
            </a:r>
            <a:r>
              <a:rPr lang="en-US" dirty="0"/>
              <a:t> </a:t>
            </a:r>
            <a:r>
              <a:rPr lang="en-US" dirty="0" err="1"/>
              <a:t>Übergänge</a:t>
            </a:r>
            <a:r>
              <a:rPr lang="en-US" dirty="0"/>
              <a:t>?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A1646C-87F9-F165-25F7-8F18DE78C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T" dirty="0"/>
              <a:t>Daniel Fabian, Ulrich </a:t>
            </a:r>
            <a:r>
              <a:rPr lang="en-AT"/>
              <a:t>Paleč</a:t>
            </a:r>
            <a:r>
              <a:rPr lang="en-US"/>
              <a:t>e</a:t>
            </a:r>
            <a:r>
              <a:rPr lang="en-AT"/>
              <a:t>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70B88-34C4-00A5-33A3-74529174B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19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8E68B-D86E-7208-A48B-B61C7F268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sign with grey text&#10;&#10;Description automatically generated">
            <a:extLst>
              <a:ext uri="{FF2B5EF4-FFF2-40B4-BE49-F238E27FC236}">
                <a16:creationId xmlns:a16="http://schemas.microsoft.com/office/drawing/2014/main" id="{14EAC019-1A9C-3074-0F19-B42B87D87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1" y="121456"/>
            <a:ext cx="1964258" cy="742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85BE35-9484-3E0B-EEA4-140E70D70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1999" y="191541"/>
            <a:ext cx="1473707" cy="673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E5BCA7-94EB-548A-6386-71E021BCB4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76" y="5981711"/>
            <a:ext cx="732653" cy="742791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AFDBC3F7-2A8F-9929-3138-FE75495EF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FSM (</a:t>
            </a:r>
            <a:r>
              <a:rPr lang="en-US" dirty="0" err="1"/>
              <a:t>Gamelogic</a:t>
            </a:r>
            <a:r>
              <a:rPr lang="en-US" dirty="0"/>
              <a:t>) - Solution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D84EE9-B13F-B34F-0B76-E6FBE9CB3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T" dirty="0"/>
              <a:t>Daniel Fabian, Ulrich </a:t>
            </a:r>
            <a:r>
              <a:rPr lang="en-AT"/>
              <a:t>Paleč</a:t>
            </a:r>
            <a:r>
              <a:rPr lang="en-US"/>
              <a:t>e</a:t>
            </a:r>
            <a:r>
              <a:rPr lang="en-AT"/>
              <a:t>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4F2C4-678B-F564-F5D8-DDAEF6FC8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403D6-9579-CE3D-0698-9F93AC82D0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4192"/>
            <a:ext cx="12192000" cy="2874729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1426F5F-6A99-0808-7BD2-5875CB2E8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902405"/>
              </p:ext>
            </p:extLst>
          </p:nvPr>
        </p:nvGraphicFramePr>
        <p:xfrm>
          <a:off x="1286230" y="4313235"/>
          <a:ext cx="470036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830">
                  <a:extLst>
                    <a:ext uri="{9D8B030D-6E8A-4147-A177-3AD203B41FA5}">
                      <a16:colId xmlns:a16="http://schemas.microsoft.com/office/drawing/2014/main" val="643230887"/>
                    </a:ext>
                  </a:extLst>
                </a:gridCol>
                <a:gridCol w="3134536">
                  <a:extLst>
                    <a:ext uri="{9D8B030D-6E8A-4147-A177-3AD203B41FA5}">
                      <a16:colId xmlns:a16="http://schemas.microsoft.com/office/drawing/2014/main" val="3473384427"/>
                    </a:ext>
                  </a:extLst>
                </a:gridCol>
              </a:tblGrid>
              <a:tr h="338734">
                <a:tc>
                  <a:txBody>
                    <a:bodyPr/>
                    <a:lstStyle/>
                    <a:p>
                      <a:r>
                        <a:rPr lang="en-US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841984"/>
                  </a:ext>
                </a:extLst>
              </a:tr>
              <a:tr h="338734">
                <a:tc>
                  <a:txBody>
                    <a:bodyPr/>
                    <a:lstStyle/>
                    <a:p>
                      <a:r>
                        <a:rPr lang="en-US"/>
                        <a:t>RESET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run_reset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565395"/>
                  </a:ext>
                </a:extLst>
              </a:tr>
              <a:tr h="338734">
                <a:tc>
                  <a:txBody>
                    <a:bodyPr/>
                    <a:lstStyle/>
                    <a:p>
                      <a:r>
                        <a:rPr lang="en-US"/>
                        <a:t>INIT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run_idle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403169"/>
                  </a:ext>
                </a:extLst>
              </a:tr>
              <a:tr h="33873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INPUTWAIT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422417"/>
                  </a:ext>
                </a:extLst>
              </a:tr>
              <a:tr h="33873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IDLE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757792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96044D5-594E-C1B9-EF50-3B3FE1C3B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236195"/>
              </p:ext>
            </p:extLst>
          </p:nvPr>
        </p:nvGraphicFramePr>
        <p:xfrm>
          <a:off x="6205404" y="4313235"/>
          <a:ext cx="470036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5830">
                  <a:extLst>
                    <a:ext uri="{9D8B030D-6E8A-4147-A177-3AD203B41FA5}">
                      <a16:colId xmlns:a16="http://schemas.microsoft.com/office/drawing/2014/main" val="643230887"/>
                    </a:ext>
                  </a:extLst>
                </a:gridCol>
                <a:gridCol w="3134536">
                  <a:extLst>
                    <a:ext uri="{9D8B030D-6E8A-4147-A177-3AD203B41FA5}">
                      <a16:colId xmlns:a16="http://schemas.microsoft.com/office/drawing/2014/main" val="3473384427"/>
                    </a:ext>
                  </a:extLst>
                </a:gridCol>
              </a:tblGrid>
              <a:tr h="338734">
                <a:tc>
                  <a:txBody>
                    <a:bodyPr/>
                    <a:lstStyle/>
                    <a:p>
                      <a:r>
                        <a:rPr lang="en-US"/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841984"/>
                  </a:ext>
                </a:extLst>
              </a:tr>
              <a:tr h="338734">
                <a:tc>
                  <a:txBody>
                    <a:bodyPr/>
                    <a:lstStyle/>
                    <a:p>
                      <a:r>
                        <a:rPr lang="en-US"/>
                        <a:t>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run_head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565395"/>
                  </a:ext>
                </a:extLst>
              </a:tr>
              <a:tr h="338734">
                <a:tc>
                  <a:txBody>
                    <a:bodyPr/>
                    <a:lstStyle/>
                    <a:p>
                      <a:r>
                        <a:rPr lang="en-US"/>
                        <a:t>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run_tail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403169"/>
                  </a:ext>
                </a:extLst>
              </a:tr>
              <a:tr h="33873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APPLES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run_apples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422417"/>
                  </a:ext>
                </a:extLst>
              </a:tr>
              <a:tr h="33873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DEATH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757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322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131F6-D5FA-EF80-BAE8-8AD0D1110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sign with grey text&#10;&#10;Description automatically generated">
            <a:extLst>
              <a:ext uri="{FF2B5EF4-FFF2-40B4-BE49-F238E27FC236}">
                <a16:creationId xmlns:a16="http://schemas.microsoft.com/office/drawing/2014/main" id="{3945BD4B-F7DE-629F-1659-A21EC9606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01" y="121456"/>
            <a:ext cx="1964258" cy="742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B9807E-F2BB-DF40-4526-20C967E3C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999" y="191541"/>
            <a:ext cx="1473707" cy="673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09D07-C1F8-FE36-9539-237D171D7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6" y="5981711"/>
            <a:ext cx="732653" cy="742791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925CB97-9445-E9E5-7F5B-3847B1982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T" dirty="0"/>
              <a:t>Also... </a:t>
            </a:r>
            <a:r>
              <a:rPr lang="en-AT" dirty="0" err="1"/>
              <a:t>wer</a:t>
            </a:r>
            <a:r>
              <a:rPr lang="en-AT" dirty="0"/>
              <a:t> will </a:t>
            </a:r>
            <a:br>
              <a:rPr lang="en-AT" dirty="0"/>
            </a:br>
            <a:r>
              <a:rPr lang="en-AT" dirty="0"/>
              <a:t>&lt;insert snake derivate&gt;</a:t>
            </a:r>
            <a:br>
              <a:rPr lang="en-AT" dirty="0"/>
            </a:br>
            <a:r>
              <a:rPr lang="en-AT" dirty="0"/>
              <a:t> </a:t>
            </a:r>
            <a:r>
              <a:rPr lang="en-AT" dirty="0" err="1"/>
              <a:t>spielen</a:t>
            </a:r>
            <a:r>
              <a:rPr lang="en-AT" dirty="0"/>
              <a:t>?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29F6F7-A126-5B46-05DD-BB63F826A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1C9FC6-4F36-B909-4038-76D40C397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T" dirty="0"/>
              <a:t>Daniel Fabian, Ulrich </a:t>
            </a:r>
            <a:r>
              <a:rPr lang="en-AT" dirty="0" err="1"/>
              <a:t>Paleč</a:t>
            </a:r>
            <a:r>
              <a:rPr lang="en-US" dirty="0"/>
              <a:t>e</a:t>
            </a:r>
            <a:r>
              <a:rPr lang="en-AT" dirty="0"/>
              <a:t>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03694-6325-C80F-F994-A47C63778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30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acd52ce-d079-43ca-9200-a85e9062662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20599D3A8C2A7459575A78ACB48DB98" ma:contentTypeVersion="10" ma:contentTypeDescription="Ein neues Dokument erstellen." ma:contentTypeScope="" ma:versionID="025a54230c8135305c6a5135e2711993">
  <xsd:schema xmlns:xsd="http://www.w3.org/2001/XMLSchema" xmlns:xs="http://www.w3.org/2001/XMLSchema" xmlns:p="http://schemas.microsoft.com/office/2006/metadata/properties" xmlns:ns3="7acd52ce-d079-43ca-9200-a85e9062662f" targetNamespace="http://schemas.microsoft.com/office/2006/metadata/properties" ma:root="true" ma:fieldsID="64080a43a6257a81844051dbef49c0ce" ns3:_="">
    <xsd:import namespace="7acd52ce-d079-43ca-9200-a85e9062662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cd52ce-d079-43ca-9200-a85e906266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4BBA77-539F-4509-981D-841C7EA55C45}">
  <ds:schemaRefs>
    <ds:schemaRef ds:uri="http://schemas.microsoft.com/office/2006/metadata/properties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7acd52ce-d079-43ca-9200-a85e9062662f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9FE1D19-7CE4-4014-BBB3-7E796120523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82B3F6-EE59-4F10-B038-98999AC582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cd52ce-d079-43ca-9200-a85e906266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642</Words>
  <Application>Microsoft Office PowerPoint</Application>
  <PresentationFormat>Widescreen</PresentationFormat>
  <Paragraphs>148</Paragraphs>
  <Slides>15</Slides>
  <Notes>5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Fachvertiefung  Computersysteme 384.139</vt:lpstr>
      <vt:lpstr>Project Tasks </vt:lpstr>
      <vt:lpstr>Grading scheme (Sum: 20 points)</vt:lpstr>
      <vt:lpstr>PowerPoint Presentation</vt:lpstr>
      <vt:lpstr>Danger Noodle the game</vt:lpstr>
      <vt:lpstr>What is snek?</vt:lpstr>
      <vt:lpstr>This is nope rope!</vt:lpstr>
      <vt:lpstr>Wie Projekt?</vt:lpstr>
      <vt:lpstr>To Paint we go!</vt:lpstr>
      <vt:lpstr>Projektstruktur</vt:lpstr>
      <vt:lpstr>Projektstruktur</vt:lpstr>
      <vt:lpstr>Projektstruktur</vt:lpstr>
      <vt:lpstr>FSM (Gamelogic)</vt:lpstr>
      <vt:lpstr>FSM (Gamelogic) - Solution</vt:lpstr>
      <vt:lpstr>Also... wer will  &lt;insert snake derivate&gt;  spielen?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Fabian, Daniel</cp:lastModifiedBy>
  <cp:revision>352</cp:revision>
  <dcterms:created xsi:type="dcterms:W3CDTF">2024-11-14T13:23:06Z</dcterms:created>
  <dcterms:modified xsi:type="dcterms:W3CDTF">2026-05-18T10:50:08Z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0x010100420599D3A8C2A7459575A78ACB48DB98</vt:lpwstr>
  </property>
</Properties>
</file>